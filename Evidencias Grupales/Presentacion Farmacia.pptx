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Paytone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jcmOyP6FUoCSIipjHPK9FJAv4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aytoneOn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40f978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40f978b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40f978b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40f978bb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40f978bb7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40f978bb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40f978b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40f978bb7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873a0e2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873a0e20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73a0e20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873a0e201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9ca986aa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9ca986aac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873a0e20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873a0e201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0" Type="http://schemas.openxmlformats.org/officeDocument/2006/relationships/image" Target="../media/image31.png"/><Relationship Id="rId9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2EE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 rot="-10122369">
            <a:off x="8784825" y="-714725"/>
            <a:ext cx="12950422" cy="6630616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flipH="1">
            <a:off x="-474051" y="4574794"/>
            <a:ext cx="12950422" cy="6630616"/>
          </a:xfrm>
          <a:custGeom>
            <a:rect b="b" l="l" r="r" t="t"/>
            <a:pathLst>
              <a:path extrusionOk="0" h="6630616" w="12950422">
                <a:moveTo>
                  <a:pt x="12950422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2" y="6630616"/>
                </a:lnTo>
                <a:lnTo>
                  <a:pt x="1295042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1160691" y="1826759"/>
            <a:ext cx="7136886" cy="4695405"/>
          </a:xfrm>
          <a:custGeom>
            <a:rect b="b" l="l" r="r" t="t"/>
            <a:pathLst>
              <a:path extrusionOk="0" h="4695405" w="7136886">
                <a:moveTo>
                  <a:pt x="0" y="0"/>
                </a:moveTo>
                <a:lnTo>
                  <a:pt x="7136886" y="0"/>
                </a:lnTo>
                <a:lnTo>
                  <a:pt x="7136886" y="4695405"/>
                </a:lnTo>
                <a:lnTo>
                  <a:pt x="0" y="4695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-4819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1160691" y="3334574"/>
            <a:ext cx="7433557" cy="7127309"/>
          </a:xfrm>
          <a:custGeom>
            <a:rect b="b" l="l" r="r" t="t"/>
            <a:pathLst>
              <a:path extrusionOk="0" h="7127309" w="7433557">
                <a:moveTo>
                  <a:pt x="0" y="0"/>
                </a:moveTo>
                <a:lnTo>
                  <a:pt x="7433557" y="0"/>
                </a:lnTo>
                <a:lnTo>
                  <a:pt x="7433557" y="7127309"/>
                </a:lnTo>
                <a:lnTo>
                  <a:pt x="0" y="7127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49" l="0" r="0" t="-214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8892467" y="7916164"/>
            <a:ext cx="3311001" cy="3850001"/>
          </a:xfrm>
          <a:custGeom>
            <a:rect b="b" l="l" r="r" t="t"/>
            <a:pathLst>
              <a:path extrusionOk="0" h="3850001" w="3311001">
                <a:moveTo>
                  <a:pt x="0" y="0"/>
                </a:moveTo>
                <a:lnTo>
                  <a:pt x="3311001" y="0"/>
                </a:lnTo>
                <a:lnTo>
                  <a:pt x="3311001" y="3850001"/>
                </a:lnTo>
                <a:lnTo>
                  <a:pt x="0" y="38500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flipH="1" rot="10800000">
            <a:off x="-167388" y="-331708"/>
            <a:ext cx="5050768" cy="1360408"/>
          </a:xfrm>
          <a:custGeom>
            <a:rect b="b" l="l" r="r" t="t"/>
            <a:pathLst>
              <a:path extrusionOk="0" h="1360408" w="5050768">
                <a:moveTo>
                  <a:pt x="0" y="1360408"/>
                </a:moveTo>
                <a:lnTo>
                  <a:pt x="5050769" y="1360408"/>
                </a:lnTo>
                <a:lnTo>
                  <a:pt x="5050769" y="0"/>
                </a:lnTo>
                <a:lnTo>
                  <a:pt x="0" y="0"/>
                </a:lnTo>
                <a:lnTo>
                  <a:pt x="0" y="136040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28700" y="2381677"/>
            <a:ext cx="9492600" cy="3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4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FarmaGO APP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9532124" y="1639122"/>
            <a:ext cx="1332375" cy="1342136"/>
          </a:xfrm>
          <a:custGeom>
            <a:rect b="b" l="l" r="r" t="t"/>
            <a:pathLst>
              <a:path extrusionOk="0" h="1342136" w="1332375">
                <a:moveTo>
                  <a:pt x="0" y="0"/>
                </a:moveTo>
                <a:lnTo>
                  <a:pt x="1332375" y="0"/>
                </a:lnTo>
                <a:lnTo>
                  <a:pt x="1332375" y="1342136"/>
                </a:lnTo>
                <a:lnTo>
                  <a:pt x="0" y="1342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  <a:effectLst>
            <a:reflection blurRad="0" dir="5400000" dist="38100" endA="0" endPos="30000" fadeDir="5400012" kx="0" rotWithShape="0" algn="bl" stA="50000" stPos="0" sy="-100000" ky="0"/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14496220" y="4826817"/>
            <a:ext cx="381249" cy="381249"/>
            <a:chOff x="0" y="0"/>
            <a:chExt cx="812800" cy="8128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1028700" y="6677948"/>
            <a:ext cx="8503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Elias Esveile       </a:t>
            </a:r>
            <a:r>
              <a:rPr lang="en-US" sz="187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Nicolas Gomez     Marcelo Zamora </a:t>
            </a:r>
            <a:endParaRPr sz="187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4071480"/>
            <a:ext cx="994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"/>
          <p:cNvGrpSpPr/>
          <p:nvPr/>
        </p:nvGrpSpPr>
        <p:grpSpPr>
          <a:xfrm>
            <a:off x="14013939" y="4952875"/>
            <a:ext cx="381249" cy="381249"/>
            <a:chOff x="0" y="0"/>
            <a:chExt cx="812800" cy="812800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 flipH="1" rot="-10483686">
            <a:off x="5997140" y="-976072"/>
            <a:ext cx="12950422" cy="6630616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3542525" y="396771"/>
            <a:ext cx="1005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Índice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 flipH="1" rot="10800000">
            <a:off x="-1029348" y="-664945"/>
            <a:ext cx="7195246" cy="1938016"/>
          </a:xfrm>
          <a:custGeom>
            <a:rect b="b" l="l" r="r" t="t"/>
            <a:pathLst>
              <a:path extrusionOk="0" h="1938016" w="7195246">
                <a:moveTo>
                  <a:pt x="0" y="1938017"/>
                </a:moveTo>
                <a:lnTo>
                  <a:pt x="7195247" y="1938017"/>
                </a:lnTo>
                <a:lnTo>
                  <a:pt x="7195247" y="0"/>
                </a:lnTo>
                <a:lnTo>
                  <a:pt x="0" y="0"/>
                </a:lnTo>
                <a:lnTo>
                  <a:pt x="0" y="193801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-300559" y="5143500"/>
            <a:ext cx="5597666" cy="5516246"/>
          </a:xfrm>
          <a:custGeom>
            <a:rect b="b" l="l" r="r" t="t"/>
            <a:pathLst>
              <a:path extrusionOk="0" h="5516246" w="5597666">
                <a:moveTo>
                  <a:pt x="0" y="0"/>
                </a:moveTo>
                <a:lnTo>
                  <a:pt x="5597666" y="0"/>
                </a:lnTo>
                <a:lnTo>
                  <a:pt x="5597666" y="5516246"/>
                </a:lnTo>
                <a:lnTo>
                  <a:pt x="0" y="5516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3679398" y="396776"/>
            <a:ext cx="4608613" cy="4906899"/>
          </a:xfrm>
          <a:custGeom>
            <a:rect b="b" l="l" r="r" t="t"/>
            <a:pathLst>
              <a:path extrusionOk="0" h="4114800" w="3793097">
                <a:moveTo>
                  <a:pt x="0" y="0"/>
                </a:moveTo>
                <a:lnTo>
                  <a:pt x="3793097" y="0"/>
                </a:lnTo>
                <a:lnTo>
                  <a:pt x="37930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277725" y="1848767"/>
            <a:ext cx="8291700" cy="7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Índice</a:t>
            </a:r>
            <a:endParaRPr b="1" sz="19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¿Que es?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Contexto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Problemática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Solución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Comparación</a:t>
            </a:r>
            <a:r>
              <a:rPr b="1" lang="en-US" sz="2199">
                <a:solidFill>
                  <a:srgbClr val="322EE5"/>
                </a:solidFill>
              </a:rPr>
              <a:t> de Precios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Propuesta de valor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Stack tecnologico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Metodología/Plan/Roles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Competencias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Riesgos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Seguridad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Modelo de Negocio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Mockup</a:t>
            </a:r>
            <a:endParaRPr b="1" sz="2199">
              <a:solidFill>
                <a:srgbClr val="322EE5"/>
              </a:solidFill>
            </a:endParaRPr>
          </a:p>
          <a:p>
            <a:pPr indent="-368236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199"/>
              <a:buAutoNum type="arabicPeriod"/>
            </a:pPr>
            <a:r>
              <a:rPr b="1" lang="en-US" sz="2199">
                <a:solidFill>
                  <a:srgbClr val="322EE5"/>
                </a:solidFill>
              </a:rPr>
              <a:t>Conclusión</a:t>
            </a:r>
            <a:endParaRPr b="1" sz="2199">
              <a:solidFill>
                <a:srgbClr val="322EE5"/>
              </a:solidFill>
            </a:endParaRPr>
          </a:p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99">
              <a:solidFill>
                <a:srgbClr val="322EE5"/>
              </a:solidFill>
            </a:endParaRPr>
          </a:p>
        </p:txBody>
      </p:sp>
      <p:sp>
        <p:nvSpPr>
          <p:cNvPr id="110" name="Google Shape;110;p2"/>
          <p:cNvSpPr/>
          <p:nvPr/>
        </p:nvSpPr>
        <p:spPr>
          <a:xfrm flipH="1">
            <a:off x="12468934" y="9042591"/>
            <a:ext cx="7195246" cy="1938016"/>
          </a:xfrm>
          <a:custGeom>
            <a:rect b="b" l="l" r="r" t="t"/>
            <a:pathLst>
              <a:path extrusionOk="0" h="1938016" w="7195246">
                <a:moveTo>
                  <a:pt x="0" y="1938016"/>
                </a:moveTo>
                <a:lnTo>
                  <a:pt x="7195247" y="1938016"/>
                </a:lnTo>
                <a:lnTo>
                  <a:pt x="7195247" y="0"/>
                </a:lnTo>
                <a:lnTo>
                  <a:pt x="0" y="0"/>
                </a:lnTo>
                <a:lnTo>
                  <a:pt x="0" y="193801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2115902" y="5921272"/>
            <a:ext cx="301625" cy="301625"/>
            <a:chOff x="0" y="0"/>
            <a:chExt cx="812800" cy="8128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2568275" y="5921272"/>
            <a:ext cx="301625" cy="301625"/>
            <a:chOff x="0" y="0"/>
            <a:chExt cx="812800" cy="8128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40f978bb7_0_0"/>
          <p:cNvSpPr/>
          <p:nvPr/>
        </p:nvSpPr>
        <p:spPr>
          <a:xfrm flipH="1" rot="10800000">
            <a:off x="5240444" y="-1408"/>
            <a:ext cx="13047550" cy="5735483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40f978bb7_0_0"/>
          <p:cNvSpPr txBox="1"/>
          <p:nvPr/>
        </p:nvSpPr>
        <p:spPr>
          <a:xfrm>
            <a:off x="3900925" y="1067596"/>
            <a:ext cx="10052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¿Qué es?</a:t>
            </a:r>
            <a:endParaRPr sz="800"/>
          </a:p>
        </p:txBody>
      </p:sp>
      <p:sp>
        <p:nvSpPr>
          <p:cNvPr id="123" name="Google Shape;123;g3f40f978bb7_0_0"/>
          <p:cNvSpPr/>
          <p:nvPr/>
        </p:nvSpPr>
        <p:spPr>
          <a:xfrm flipH="1" rot="10800000">
            <a:off x="0" y="-1404"/>
            <a:ext cx="6151935" cy="1657004"/>
          </a:xfrm>
          <a:custGeom>
            <a:rect b="b" l="l" r="r" t="t"/>
            <a:pathLst>
              <a:path extrusionOk="0" h="1938016" w="7195246">
                <a:moveTo>
                  <a:pt x="0" y="1938017"/>
                </a:moveTo>
                <a:lnTo>
                  <a:pt x="7195247" y="1938017"/>
                </a:lnTo>
                <a:lnTo>
                  <a:pt x="7195247" y="0"/>
                </a:lnTo>
                <a:lnTo>
                  <a:pt x="0" y="0"/>
                </a:lnTo>
                <a:lnTo>
                  <a:pt x="0" y="193801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40f978bb7_0_0"/>
          <p:cNvSpPr/>
          <p:nvPr/>
        </p:nvSpPr>
        <p:spPr>
          <a:xfrm>
            <a:off x="682925" y="2956700"/>
            <a:ext cx="4296209" cy="4330253"/>
          </a:xfrm>
          <a:custGeom>
            <a:rect b="b" l="l" r="r" t="t"/>
            <a:pathLst>
              <a:path extrusionOk="0" h="5516246" w="5597666">
                <a:moveTo>
                  <a:pt x="0" y="0"/>
                </a:moveTo>
                <a:lnTo>
                  <a:pt x="5597666" y="0"/>
                </a:lnTo>
                <a:lnTo>
                  <a:pt x="5597666" y="5516246"/>
                </a:lnTo>
                <a:lnTo>
                  <a:pt x="0" y="55162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40f978bb7_0_0"/>
          <p:cNvSpPr/>
          <p:nvPr/>
        </p:nvSpPr>
        <p:spPr>
          <a:xfrm>
            <a:off x="14393227" y="1543999"/>
            <a:ext cx="3053443" cy="3044952"/>
          </a:xfrm>
          <a:custGeom>
            <a:rect b="b" l="l" r="r" t="t"/>
            <a:pathLst>
              <a:path extrusionOk="0" h="4114800" w="3793097">
                <a:moveTo>
                  <a:pt x="0" y="0"/>
                </a:moveTo>
                <a:lnTo>
                  <a:pt x="3793097" y="0"/>
                </a:lnTo>
                <a:lnTo>
                  <a:pt x="37930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40f978bb7_0_0"/>
          <p:cNvSpPr txBox="1"/>
          <p:nvPr/>
        </p:nvSpPr>
        <p:spPr>
          <a:xfrm>
            <a:off x="5129675" y="3291500"/>
            <a:ext cx="8301000" cy="1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434343"/>
                </a:solidFill>
              </a:rPr>
              <a:t>FarmaGo es una app móvil que conecta usuarios con </a:t>
            </a:r>
            <a:r>
              <a:rPr lang="en-US" sz="3400">
                <a:solidFill>
                  <a:schemeClr val="lt1"/>
                </a:solidFill>
                <a:highlight>
                  <a:srgbClr val="322EE5"/>
                </a:highlight>
              </a:rPr>
              <a:t>farmacias independientes</a:t>
            </a:r>
            <a:r>
              <a:rPr lang="en-US" sz="3400">
                <a:solidFill>
                  <a:srgbClr val="434343"/>
                </a:solidFill>
              </a:rPr>
              <a:t> de forma </a:t>
            </a:r>
            <a:r>
              <a:rPr lang="en-US" sz="3400">
                <a:solidFill>
                  <a:schemeClr val="lt1"/>
                </a:solidFill>
                <a:highlight>
                  <a:srgbClr val="322EE5"/>
                </a:highlight>
              </a:rPr>
              <a:t>accesible y eficiente.</a:t>
            </a:r>
            <a:r>
              <a:rPr lang="en-US" sz="2900">
                <a:solidFill>
                  <a:schemeClr val="lt1"/>
                </a:solidFill>
                <a:highlight>
                  <a:srgbClr val="322EE5"/>
                </a:highlight>
              </a:rPr>
              <a:t> </a:t>
            </a:r>
            <a:endParaRPr sz="5799">
              <a:solidFill>
                <a:schemeClr val="lt1"/>
              </a:solidFill>
              <a:highlight>
                <a:srgbClr val="322EE5"/>
              </a:highlight>
            </a:endParaRPr>
          </a:p>
        </p:txBody>
      </p:sp>
      <p:sp>
        <p:nvSpPr>
          <p:cNvPr id="127" name="Google Shape;127;g3f40f978bb7_0_0"/>
          <p:cNvSpPr/>
          <p:nvPr/>
        </p:nvSpPr>
        <p:spPr>
          <a:xfrm flipH="1">
            <a:off x="12468934" y="9042591"/>
            <a:ext cx="7195246" cy="1938016"/>
          </a:xfrm>
          <a:custGeom>
            <a:rect b="b" l="l" r="r" t="t"/>
            <a:pathLst>
              <a:path extrusionOk="0" h="1938016" w="7195246">
                <a:moveTo>
                  <a:pt x="0" y="1938016"/>
                </a:moveTo>
                <a:lnTo>
                  <a:pt x="7195247" y="1938016"/>
                </a:lnTo>
                <a:lnTo>
                  <a:pt x="7195247" y="0"/>
                </a:lnTo>
                <a:lnTo>
                  <a:pt x="0" y="0"/>
                </a:lnTo>
                <a:lnTo>
                  <a:pt x="0" y="193801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g3f40f978bb7_0_0"/>
          <p:cNvGrpSpPr/>
          <p:nvPr/>
        </p:nvGrpSpPr>
        <p:grpSpPr>
          <a:xfrm>
            <a:off x="2115902" y="5921272"/>
            <a:ext cx="301630" cy="301630"/>
            <a:chOff x="0" y="0"/>
            <a:chExt cx="812800" cy="812800"/>
          </a:xfrm>
        </p:grpSpPr>
        <p:sp>
          <p:nvSpPr>
            <p:cNvPr id="129" name="Google Shape;129;g3f40f978bb7_0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f40f978bb7_0_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g3f40f978bb7_0_0"/>
          <p:cNvGrpSpPr/>
          <p:nvPr/>
        </p:nvGrpSpPr>
        <p:grpSpPr>
          <a:xfrm>
            <a:off x="2568275" y="5921272"/>
            <a:ext cx="301630" cy="301630"/>
            <a:chOff x="0" y="0"/>
            <a:chExt cx="812800" cy="812800"/>
          </a:xfrm>
        </p:grpSpPr>
        <p:sp>
          <p:nvSpPr>
            <p:cNvPr id="132" name="Google Shape;132;g3f40f978bb7_0_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g3f40f978bb7_0_0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 flipH="1" rot="-10124778">
            <a:off x="9044872" y="-563051"/>
            <a:ext cx="12940220" cy="6625392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87525" y="1626150"/>
            <a:ext cx="6673800" cy="55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400">
                <a:solidFill>
                  <a:srgbClr val="322EE5"/>
                </a:solidFill>
              </a:rPr>
              <a:t>85%</a:t>
            </a:r>
            <a:endParaRPr b="1" sz="15400">
              <a:solidFill>
                <a:srgbClr val="322EE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rgbClr val="1E293B"/>
                </a:solidFill>
              </a:rPr>
              <a:t>Ventas en Cadenas</a:t>
            </a:r>
            <a:endParaRPr b="1" sz="2250">
              <a:solidFill>
                <a:srgbClr val="1E293B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Las grandes cadenas concentran el mercado</a:t>
            </a:r>
            <a:endParaRPr sz="19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impulsadas por su enorme visibilidad.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322EE5"/>
                </a:solidFill>
              </a:rPr>
              <a:t> </a:t>
            </a:r>
            <a:endParaRPr b="1" sz="43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300">
              <a:solidFill>
                <a:srgbClr val="322EE5"/>
              </a:solidFill>
            </a:endParaRPr>
          </a:p>
        </p:txBody>
      </p:sp>
      <p:sp>
        <p:nvSpPr>
          <p:cNvPr id="140" name="Google Shape;140;p3"/>
          <p:cNvSpPr/>
          <p:nvPr/>
        </p:nvSpPr>
        <p:spPr>
          <a:xfrm flipH="1">
            <a:off x="2973" y="6138727"/>
            <a:ext cx="11479927" cy="5215042"/>
          </a:xfrm>
          <a:custGeom>
            <a:rect b="b" l="l" r="r" t="t"/>
            <a:pathLst>
              <a:path extrusionOk="0" h="6398825" w="11804552">
                <a:moveTo>
                  <a:pt x="11804552" y="0"/>
                </a:moveTo>
                <a:lnTo>
                  <a:pt x="0" y="0"/>
                </a:lnTo>
                <a:lnTo>
                  <a:pt x="0" y="6398824"/>
                </a:lnTo>
                <a:lnTo>
                  <a:pt x="11804552" y="6398824"/>
                </a:lnTo>
                <a:lnTo>
                  <a:pt x="118045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707" r="0" t="-3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 flipH="1">
            <a:off x="16196841" y="9402072"/>
            <a:ext cx="4724478" cy="1272523"/>
          </a:xfrm>
          <a:custGeom>
            <a:rect b="b" l="l" r="r" t="t"/>
            <a:pathLst>
              <a:path extrusionOk="0" h="1272523" w="4724478">
                <a:moveTo>
                  <a:pt x="0" y="1272523"/>
                </a:moveTo>
                <a:lnTo>
                  <a:pt x="4724479" y="1272523"/>
                </a:lnTo>
                <a:lnTo>
                  <a:pt x="4724479" y="0"/>
                </a:lnTo>
                <a:lnTo>
                  <a:pt x="0" y="0"/>
                </a:lnTo>
                <a:lnTo>
                  <a:pt x="0" y="127252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 flipH="1" rot="10800000">
            <a:off x="-2194717" y="-243823"/>
            <a:ext cx="4724478" cy="1272523"/>
          </a:xfrm>
          <a:custGeom>
            <a:rect b="b" l="l" r="r" t="t"/>
            <a:pathLst>
              <a:path extrusionOk="0" h="1272523" w="4724478">
                <a:moveTo>
                  <a:pt x="0" y="1272523"/>
                </a:moveTo>
                <a:lnTo>
                  <a:pt x="4724478" y="1272523"/>
                </a:lnTo>
                <a:lnTo>
                  <a:pt x="4724478" y="0"/>
                </a:lnTo>
                <a:lnTo>
                  <a:pt x="0" y="0"/>
                </a:lnTo>
                <a:lnTo>
                  <a:pt x="0" y="127252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4668159" y="751661"/>
            <a:ext cx="86913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Contexto</a:t>
            </a:r>
            <a:endParaRPr sz="4500">
              <a:solidFill>
                <a:srgbClr val="322EE5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6817900" y="1626150"/>
            <a:ext cx="5355900" cy="4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0">
                <a:solidFill>
                  <a:srgbClr val="322EE5"/>
                </a:solidFill>
              </a:rPr>
              <a:t>50%</a:t>
            </a:r>
            <a:endParaRPr b="1" sz="15000">
              <a:solidFill>
                <a:srgbClr val="322EE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E293B"/>
                </a:solidFill>
              </a:rPr>
              <a:t>Farmacias Independientes</a:t>
            </a:r>
            <a:endParaRPr b="1" sz="2250">
              <a:solidFill>
                <a:srgbClr val="1E293B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800"/>
              <a:t>Representan la mitad de los locales del país, ofreciendo precios más justos, pero operan sin una herramienta digital unificada que los conecte con el usuario.</a:t>
            </a:r>
            <a:endParaRPr sz="1800"/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5">
            <a:alphaModFix/>
          </a:blip>
          <a:srcRect b="4507" l="0" r="0" t="0"/>
          <a:stretch/>
        </p:blipFill>
        <p:spPr>
          <a:xfrm>
            <a:off x="7180950" y="6432675"/>
            <a:ext cx="4629800" cy="34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9717700" y="9904875"/>
            <a:ext cx="33471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B1A28"/>
                </a:solidFill>
              </a:rPr>
              <a:t>Colliers</a:t>
            </a:r>
            <a:r>
              <a:rPr lang="en-US" sz="1200">
                <a:solidFill>
                  <a:srgbClr val="0B1A28"/>
                </a:solidFill>
              </a:rPr>
              <a:t>, 2026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12600000" y="1734675"/>
            <a:ext cx="5355900" cy="4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0">
                <a:solidFill>
                  <a:srgbClr val="322EE5"/>
                </a:solidFill>
              </a:rPr>
              <a:t>77</a:t>
            </a:r>
            <a:r>
              <a:rPr b="1" lang="en-US" sz="15000">
                <a:solidFill>
                  <a:srgbClr val="322EE5"/>
                </a:solidFill>
              </a:rPr>
              <a:t>%</a:t>
            </a:r>
            <a:endParaRPr b="1" sz="15000">
              <a:solidFill>
                <a:srgbClr val="322EE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E293B"/>
                </a:solidFill>
              </a:rPr>
              <a:t>de la oferta de farmacias en la comuna de Santiago son independientes</a:t>
            </a:r>
            <a:endParaRPr b="1" sz="2250">
              <a:solidFill>
                <a:srgbClr val="1E293B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40f978bb7_0_18"/>
          <p:cNvSpPr txBox="1"/>
          <p:nvPr/>
        </p:nvSpPr>
        <p:spPr>
          <a:xfrm>
            <a:off x="3457770" y="1658056"/>
            <a:ext cx="8691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 u="sng"/>
          </a:p>
        </p:txBody>
      </p:sp>
      <p:sp>
        <p:nvSpPr>
          <p:cNvPr id="153" name="Google Shape;153;g3f40f978bb7_0_18"/>
          <p:cNvSpPr/>
          <p:nvPr/>
        </p:nvSpPr>
        <p:spPr>
          <a:xfrm flipH="1">
            <a:off x="-244457" y="4081466"/>
            <a:ext cx="13091553" cy="7096462"/>
          </a:xfrm>
          <a:custGeom>
            <a:rect b="b" l="l" r="r" t="t"/>
            <a:pathLst>
              <a:path extrusionOk="0" h="7096462" w="13091553">
                <a:moveTo>
                  <a:pt x="13091553" y="0"/>
                </a:moveTo>
                <a:lnTo>
                  <a:pt x="0" y="0"/>
                </a:lnTo>
                <a:lnTo>
                  <a:pt x="0" y="7096462"/>
                </a:lnTo>
                <a:lnTo>
                  <a:pt x="13091553" y="7096462"/>
                </a:lnTo>
                <a:lnTo>
                  <a:pt x="1309155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710" r="0" t="-36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40f978bb7_0_18"/>
          <p:cNvSpPr txBox="1"/>
          <p:nvPr/>
        </p:nvSpPr>
        <p:spPr>
          <a:xfrm>
            <a:off x="2306675" y="2864725"/>
            <a:ext cx="11998500" cy="3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434343"/>
                </a:solidFill>
              </a:rPr>
              <a:t>En Chile, gran parte del gasto en medicamentos se concentra en las</a:t>
            </a:r>
            <a:r>
              <a:rPr b="1" lang="en-US" sz="2500">
                <a:solidFill>
                  <a:schemeClr val="lt1"/>
                </a:solidFill>
                <a:highlight>
                  <a:srgbClr val="322EE5"/>
                </a:highlight>
              </a:rPr>
              <a:t> grandes cadenas (Cruz Verde, Salcobrand, Farmacias Ahumada)</a:t>
            </a:r>
            <a:r>
              <a:rPr b="1" lang="en-US" sz="2500">
                <a:solidFill>
                  <a:srgbClr val="434343"/>
                </a:solidFill>
              </a:rPr>
              <a:t>, que suelen tener precios más altos por sus costos de estructura y marketing. Las farmacias independientes ofrecen los </a:t>
            </a:r>
            <a:r>
              <a:rPr b="1" lang="en-US" sz="2500">
                <a:solidFill>
                  <a:schemeClr val="lt1"/>
                </a:solidFill>
                <a:highlight>
                  <a:srgbClr val="322EE5"/>
                </a:highlight>
              </a:rPr>
              <a:t>mismos medicamentos a menor precio, pero carecen de visibilidad digital</a:t>
            </a:r>
            <a:r>
              <a:rPr b="1" lang="en-US" sz="2500">
                <a:solidFill>
                  <a:srgbClr val="434343"/>
                </a:solidFill>
              </a:rPr>
              <a:t>: no tienen apps ni sistemas que permitan saber si cuentan con stock disponible. Esto genera una </a:t>
            </a:r>
            <a:r>
              <a:rPr b="1" lang="en-US" sz="2500">
                <a:solidFill>
                  <a:schemeClr val="lt1"/>
                </a:solidFill>
                <a:highlight>
                  <a:srgbClr val="322EE5"/>
                </a:highlight>
              </a:rPr>
              <a:t>asimetría de información</a:t>
            </a:r>
            <a:r>
              <a:rPr b="1" lang="en-US" sz="2500">
                <a:solidFill>
                  <a:srgbClr val="434343"/>
                </a:solidFill>
              </a:rPr>
              <a:t> donde el usuario termina comprando en la farmacia más conocida, pagando más, simplemente por no saber que una opción más barata está cerca</a:t>
            </a:r>
            <a:r>
              <a:rPr b="1" lang="en-US" sz="1900">
                <a:solidFill>
                  <a:srgbClr val="434343"/>
                </a:solidFill>
              </a:rPr>
              <a:t>. </a:t>
            </a:r>
            <a:endParaRPr b="1" sz="1900">
              <a:solidFill>
                <a:srgbClr val="434343"/>
              </a:solidFill>
            </a:endParaRPr>
          </a:p>
        </p:txBody>
      </p:sp>
      <p:sp>
        <p:nvSpPr>
          <p:cNvPr id="155" name="Google Shape;155;g3f40f978bb7_0_18"/>
          <p:cNvSpPr/>
          <p:nvPr/>
        </p:nvSpPr>
        <p:spPr>
          <a:xfrm>
            <a:off x="10646961" y="4216304"/>
            <a:ext cx="8234179" cy="6961624"/>
          </a:xfrm>
          <a:custGeom>
            <a:rect b="b" l="l" r="r" t="t"/>
            <a:pathLst>
              <a:path extrusionOk="0" h="6961624" w="8234179">
                <a:moveTo>
                  <a:pt x="0" y="0"/>
                </a:moveTo>
                <a:lnTo>
                  <a:pt x="8234179" y="0"/>
                </a:lnTo>
                <a:lnTo>
                  <a:pt x="8234179" y="6961624"/>
                </a:lnTo>
                <a:lnTo>
                  <a:pt x="0" y="6961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f40f978bb7_0_18"/>
          <p:cNvSpPr/>
          <p:nvPr/>
        </p:nvSpPr>
        <p:spPr>
          <a:xfrm rot="10800000">
            <a:off x="15513697" y="-316363"/>
            <a:ext cx="4993797" cy="1345063"/>
          </a:xfrm>
          <a:custGeom>
            <a:rect b="b" l="l" r="r" t="t"/>
            <a:pathLst>
              <a:path extrusionOk="0" h="1345063" w="4993797">
                <a:moveTo>
                  <a:pt x="0" y="0"/>
                </a:moveTo>
                <a:lnTo>
                  <a:pt x="4993797" y="0"/>
                </a:lnTo>
                <a:lnTo>
                  <a:pt x="4993797" y="1345063"/>
                </a:lnTo>
                <a:lnTo>
                  <a:pt x="0" y="1345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g3f40f978bb7_0_18"/>
          <p:cNvGrpSpPr/>
          <p:nvPr/>
        </p:nvGrpSpPr>
        <p:grpSpPr>
          <a:xfrm>
            <a:off x="15600643" y="5143500"/>
            <a:ext cx="381284" cy="381284"/>
            <a:chOff x="0" y="0"/>
            <a:chExt cx="812800" cy="812800"/>
          </a:xfrm>
        </p:grpSpPr>
        <p:sp>
          <p:nvSpPr>
            <p:cNvPr id="158" name="Google Shape;158;g3f40f978bb7_0_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g3f40f978bb7_0_1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g3f40f978bb7_0_18"/>
          <p:cNvGrpSpPr/>
          <p:nvPr/>
        </p:nvGrpSpPr>
        <p:grpSpPr>
          <a:xfrm>
            <a:off x="15105139" y="5137230"/>
            <a:ext cx="381284" cy="381284"/>
            <a:chOff x="0" y="0"/>
            <a:chExt cx="812800" cy="812800"/>
          </a:xfrm>
        </p:grpSpPr>
        <p:sp>
          <p:nvSpPr>
            <p:cNvPr id="161" name="Google Shape;161;g3f40f978bb7_0_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3f40f978bb7_0_18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3f40f978bb7_0_18"/>
          <p:cNvSpPr txBox="1"/>
          <p:nvPr/>
        </p:nvSpPr>
        <p:spPr>
          <a:xfrm>
            <a:off x="4798342" y="875343"/>
            <a:ext cx="86913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Problem</a:t>
            </a: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á</a:t>
            </a: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tica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/>
          <p:nvPr/>
        </p:nvSpPr>
        <p:spPr>
          <a:xfrm>
            <a:off x="13140957" y="6219073"/>
            <a:ext cx="3803616" cy="2814675"/>
          </a:xfrm>
          <a:custGeom>
            <a:rect b="b" l="l" r="r" t="t"/>
            <a:pathLst>
              <a:path extrusionOk="0" h="2814675" w="3803616">
                <a:moveTo>
                  <a:pt x="0" y="0"/>
                </a:moveTo>
                <a:lnTo>
                  <a:pt x="3803616" y="0"/>
                </a:lnTo>
                <a:lnTo>
                  <a:pt x="3803616" y="2814676"/>
                </a:lnTo>
                <a:lnTo>
                  <a:pt x="0" y="28146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88176" y="585125"/>
            <a:ext cx="168564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Solución</a:t>
            </a:r>
            <a:endParaRPr sz="6800">
              <a:solidFill>
                <a:srgbClr val="322EE5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4449800" y="2091088"/>
            <a:ext cx="8813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Una app permite </a:t>
            </a:r>
            <a:r>
              <a:rPr b="1" lang="en-US" sz="2400">
                <a:solidFill>
                  <a:schemeClr val="lt1"/>
                </a:solidFill>
                <a:highlight>
                  <a:srgbClr val="322EE5"/>
                </a:highlight>
              </a:rPr>
              <a:t>buscar medicamentos con validación de stock en tiempo real</a:t>
            </a:r>
            <a:r>
              <a:rPr lang="en-US" sz="2400"/>
              <a:t>, ubicando de forma instantánea las </a:t>
            </a:r>
            <a:r>
              <a:rPr lang="en-US" sz="2400">
                <a:solidFill>
                  <a:schemeClr val="lt1"/>
                </a:solidFill>
                <a:highlight>
                  <a:srgbClr val="322EE5"/>
                </a:highlight>
              </a:rPr>
              <a:t>f</a:t>
            </a:r>
            <a:r>
              <a:rPr b="1" lang="en-US" sz="2400">
                <a:solidFill>
                  <a:schemeClr val="lt1"/>
                </a:solidFill>
                <a:highlight>
                  <a:srgbClr val="322EE5"/>
                </a:highlight>
              </a:rPr>
              <a:t>armacias independientes más cercanas </a:t>
            </a:r>
            <a:r>
              <a:rPr lang="en-US" sz="2400"/>
              <a:t>que efectivamente cuentan con lo que el usuario necesita, complementado con un </a:t>
            </a:r>
            <a:r>
              <a:rPr b="1" lang="en-US" sz="2400">
                <a:solidFill>
                  <a:schemeClr val="lt1"/>
                </a:solidFill>
                <a:highlight>
                  <a:srgbClr val="322EE5"/>
                </a:highlight>
              </a:rPr>
              <a:t>escáner de recetas potenciado por IA</a:t>
            </a:r>
            <a:r>
              <a:rPr lang="en-US" sz="2400"/>
              <a:t> que reconoce el contenido de la receta y consulta al instante su disponibilidad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Todo dentro de una interfaz pensada para ser </a:t>
            </a:r>
            <a:r>
              <a:rPr b="1" lang="en-US" sz="2400">
                <a:solidFill>
                  <a:schemeClr val="lt1"/>
                </a:solidFill>
                <a:highlight>
                  <a:srgbClr val="322EE5"/>
                </a:highlight>
              </a:rPr>
              <a:t>simple e intuitiva</a:t>
            </a:r>
            <a:r>
              <a:rPr b="1" lang="en-US" sz="2400"/>
              <a:t> </a:t>
            </a:r>
            <a:r>
              <a:rPr lang="en-US" sz="2400"/>
              <a:t>incluso para adultos mayores, y respaldado por un historial de búsquedas y recetas que permite retomar cualquier consulta anterior con un par de toques.</a:t>
            </a:r>
            <a:endParaRPr sz="2400"/>
          </a:p>
        </p:txBody>
      </p:sp>
      <p:sp>
        <p:nvSpPr>
          <p:cNvPr id="171" name="Google Shape;171;p4"/>
          <p:cNvSpPr/>
          <p:nvPr/>
        </p:nvSpPr>
        <p:spPr>
          <a:xfrm flipH="1">
            <a:off x="-837889" y="4613351"/>
            <a:ext cx="5409888" cy="6026090"/>
          </a:xfrm>
          <a:custGeom>
            <a:rect b="b" l="l" r="r" t="t"/>
            <a:pathLst>
              <a:path extrusionOk="0" h="6041193" w="5437073">
                <a:moveTo>
                  <a:pt x="5437073" y="0"/>
                </a:moveTo>
                <a:lnTo>
                  <a:pt x="0" y="0"/>
                </a:lnTo>
                <a:lnTo>
                  <a:pt x="0" y="6041193"/>
                </a:lnTo>
                <a:lnTo>
                  <a:pt x="5437073" y="6041193"/>
                </a:lnTo>
                <a:lnTo>
                  <a:pt x="543707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 flipH="1">
            <a:off x="15004730" y="8985282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29" y="1652800"/>
                </a:lnTo>
                <a:lnTo>
                  <a:pt x="6136329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 flipH="1" rot="10800000">
            <a:off x="-2728264" y="-341577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1"/>
                </a:moveTo>
                <a:lnTo>
                  <a:pt x="6136330" y="1652801"/>
                </a:lnTo>
                <a:lnTo>
                  <a:pt x="6136330" y="0"/>
                </a:lnTo>
                <a:lnTo>
                  <a:pt x="0" y="0"/>
                </a:lnTo>
                <a:lnTo>
                  <a:pt x="0" y="165280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p4"/>
          <p:cNvGrpSpPr/>
          <p:nvPr/>
        </p:nvGrpSpPr>
        <p:grpSpPr>
          <a:xfrm>
            <a:off x="1346754" y="6448385"/>
            <a:ext cx="222230" cy="222230"/>
            <a:chOff x="0" y="0"/>
            <a:chExt cx="812800" cy="812800"/>
          </a:xfrm>
        </p:grpSpPr>
        <p:sp>
          <p:nvSpPr>
            <p:cNvPr id="175" name="Google Shape;175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" name="Google Shape;177;p4"/>
          <p:cNvGrpSpPr/>
          <p:nvPr/>
        </p:nvGrpSpPr>
        <p:grpSpPr>
          <a:xfrm>
            <a:off x="1666533" y="6448559"/>
            <a:ext cx="222230" cy="222230"/>
            <a:chOff x="0" y="0"/>
            <a:chExt cx="812800" cy="812800"/>
          </a:xfrm>
        </p:grpSpPr>
        <p:sp>
          <p:nvSpPr>
            <p:cNvPr id="178" name="Google Shape;17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C6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f40f978bb7_1_6" title="grafico_comparacion_preci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900" y="587375"/>
            <a:ext cx="12084777" cy="7098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f40f978bb7_1_6"/>
          <p:cNvSpPr/>
          <p:nvPr/>
        </p:nvSpPr>
        <p:spPr>
          <a:xfrm flipH="1">
            <a:off x="-321651" y="4958986"/>
            <a:ext cx="11804552" cy="6398825"/>
          </a:xfrm>
          <a:custGeom>
            <a:rect b="b" l="l" r="r" t="t"/>
            <a:pathLst>
              <a:path extrusionOk="0" h="6398825" w="11804552">
                <a:moveTo>
                  <a:pt x="11804552" y="0"/>
                </a:moveTo>
                <a:lnTo>
                  <a:pt x="0" y="0"/>
                </a:lnTo>
                <a:lnTo>
                  <a:pt x="0" y="6398824"/>
                </a:lnTo>
                <a:lnTo>
                  <a:pt x="11804552" y="6398824"/>
                </a:lnTo>
                <a:lnTo>
                  <a:pt x="11804552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9710" r="0" t="-362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40f978bb7_1_6"/>
          <p:cNvSpPr/>
          <p:nvPr/>
        </p:nvSpPr>
        <p:spPr>
          <a:xfrm flipH="1" rot="-10124778">
            <a:off x="8990122" y="-604101"/>
            <a:ext cx="12940220" cy="6625392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40f978bb7_1_6"/>
          <p:cNvSpPr/>
          <p:nvPr/>
        </p:nvSpPr>
        <p:spPr>
          <a:xfrm flipH="1" rot="10800000">
            <a:off x="-2194717" y="-243823"/>
            <a:ext cx="4724478" cy="1272523"/>
          </a:xfrm>
          <a:custGeom>
            <a:rect b="b" l="l" r="r" t="t"/>
            <a:pathLst>
              <a:path extrusionOk="0" h="1272523" w="4724478">
                <a:moveTo>
                  <a:pt x="0" y="1272523"/>
                </a:moveTo>
                <a:lnTo>
                  <a:pt x="4724478" y="1272523"/>
                </a:lnTo>
                <a:lnTo>
                  <a:pt x="4724478" y="0"/>
                </a:lnTo>
                <a:lnTo>
                  <a:pt x="0" y="0"/>
                </a:lnTo>
                <a:lnTo>
                  <a:pt x="0" y="127252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40f978bb7_1_6"/>
          <p:cNvSpPr/>
          <p:nvPr/>
        </p:nvSpPr>
        <p:spPr>
          <a:xfrm flipH="1">
            <a:off x="16196841" y="9402072"/>
            <a:ext cx="4724478" cy="1272523"/>
          </a:xfrm>
          <a:custGeom>
            <a:rect b="b" l="l" r="r" t="t"/>
            <a:pathLst>
              <a:path extrusionOk="0" h="1272523" w="4724478">
                <a:moveTo>
                  <a:pt x="0" y="1272523"/>
                </a:moveTo>
                <a:lnTo>
                  <a:pt x="4724479" y="1272523"/>
                </a:lnTo>
                <a:lnTo>
                  <a:pt x="4724479" y="0"/>
                </a:lnTo>
                <a:lnTo>
                  <a:pt x="0" y="0"/>
                </a:lnTo>
                <a:lnTo>
                  <a:pt x="0" y="127252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40f978bb7_1_6"/>
          <p:cNvSpPr txBox="1"/>
          <p:nvPr/>
        </p:nvSpPr>
        <p:spPr>
          <a:xfrm>
            <a:off x="9570175" y="7871175"/>
            <a:ext cx="8490300" cy="25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500"/>
              <a:buFont typeface="Calibri"/>
              <a:buChar char="●"/>
            </a:pPr>
            <a:r>
              <a:rPr b="1" lang="en-US" sz="2500">
                <a:solidFill>
                  <a:srgbClr val="322EE5"/>
                </a:solidFill>
                <a:latin typeface="Calibri"/>
                <a:ea typeface="Calibri"/>
                <a:cs typeface="Calibri"/>
                <a:sym typeface="Calibri"/>
              </a:rPr>
              <a:t>Enalapril:</a:t>
            </a:r>
            <a:r>
              <a:rPr lang="en-US" sz="2500">
                <a:solidFill>
                  <a:srgbClr val="322EE5"/>
                </a:solidFill>
                <a:latin typeface="Calibri"/>
                <a:ea typeface="Calibri"/>
                <a:cs typeface="Calibri"/>
                <a:sym typeface="Calibri"/>
              </a:rPr>
              <a:t> Presión arterial alta y la insuficiencia cardíaca </a:t>
            </a:r>
            <a:endParaRPr sz="2500">
              <a:solidFill>
                <a:srgbClr val="322EE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500"/>
              <a:buFont typeface="Calibri"/>
              <a:buChar char="●"/>
            </a:pPr>
            <a:r>
              <a:rPr b="1" lang="en-US" sz="2500">
                <a:solidFill>
                  <a:srgbClr val="322EE5"/>
                </a:solidFill>
                <a:latin typeface="Calibri"/>
                <a:ea typeface="Calibri"/>
                <a:cs typeface="Calibri"/>
                <a:sym typeface="Calibri"/>
              </a:rPr>
              <a:t>Cefalmin: </a:t>
            </a:r>
            <a:r>
              <a:rPr lang="en-US" sz="2500">
                <a:solidFill>
                  <a:srgbClr val="322EE5"/>
                </a:solidFill>
              </a:rPr>
              <a:t>tratar la migraña y los dolores de cabeza intensos</a:t>
            </a:r>
            <a:endParaRPr sz="2500">
              <a:solidFill>
                <a:srgbClr val="322EE5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500"/>
              <a:buChar char="●"/>
            </a:pPr>
            <a:r>
              <a:rPr b="1" lang="en-US" sz="2500">
                <a:solidFill>
                  <a:srgbClr val="322EE5"/>
                </a:solidFill>
              </a:rPr>
              <a:t>Dionela: </a:t>
            </a:r>
            <a:r>
              <a:rPr lang="en-US" sz="2500">
                <a:solidFill>
                  <a:srgbClr val="322EE5"/>
                </a:solidFill>
              </a:rPr>
              <a:t>anticonceptivo oral</a:t>
            </a:r>
            <a:endParaRPr sz="2500">
              <a:solidFill>
                <a:srgbClr val="322EE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 flipH="1" rot="387291">
            <a:off x="-2281353" y="4783179"/>
            <a:ext cx="11804552" cy="6398825"/>
          </a:xfrm>
          <a:custGeom>
            <a:rect b="b" l="l" r="r" t="t"/>
            <a:pathLst>
              <a:path extrusionOk="0" h="6398825" w="11804552">
                <a:moveTo>
                  <a:pt x="11804552" y="0"/>
                </a:moveTo>
                <a:lnTo>
                  <a:pt x="0" y="0"/>
                </a:lnTo>
                <a:lnTo>
                  <a:pt x="0" y="6398825"/>
                </a:lnTo>
                <a:lnTo>
                  <a:pt x="11804552" y="6398825"/>
                </a:lnTo>
                <a:lnTo>
                  <a:pt x="118045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707" r="0" t="-3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 flipH="1" rot="-10377772">
            <a:off x="8210144" y="-672122"/>
            <a:ext cx="11804552" cy="6398825"/>
          </a:xfrm>
          <a:custGeom>
            <a:rect b="b" l="l" r="r" t="t"/>
            <a:pathLst>
              <a:path extrusionOk="0" h="6398825" w="11804552">
                <a:moveTo>
                  <a:pt x="11804552" y="0"/>
                </a:moveTo>
                <a:lnTo>
                  <a:pt x="0" y="0"/>
                </a:lnTo>
                <a:lnTo>
                  <a:pt x="0" y="6398824"/>
                </a:lnTo>
                <a:lnTo>
                  <a:pt x="11804552" y="6398824"/>
                </a:lnTo>
                <a:lnTo>
                  <a:pt x="1180455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707" r="0" t="-36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4798359" y="1495761"/>
            <a:ext cx="86913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Propuesta de valor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1362737" y="4662943"/>
            <a:ext cx="401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2493600" y="2905938"/>
            <a:ext cx="133008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highlight>
                  <a:srgbClr val="322EE5"/>
                </a:highlight>
              </a:rPr>
              <a:t>Encontrar el medicamento que el usuario necesita, en la farmacia independiente más cercana que realmente lo tiene, sin perder tiempo llamando o recorriendo locales.</a:t>
            </a:r>
            <a:endParaRPr b="1" sz="2400">
              <a:solidFill>
                <a:schemeClr val="lt1"/>
              </a:solidFill>
              <a:highlight>
                <a:srgbClr val="322EE5"/>
              </a:highlight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2419201" y="5083675"/>
            <a:ext cx="134496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300"/>
              <a:buChar char="●"/>
            </a:pPr>
            <a:r>
              <a:rPr lang="en-US" sz="2300">
                <a:solidFill>
                  <a:srgbClr val="322EE5"/>
                </a:solidFill>
              </a:rPr>
              <a:t>Conecta a la gente con farmacias independientes que muchas veces tienen mejores precios pero son invisibles porque no tienen presencia digital ni apps propias. </a:t>
            </a:r>
            <a:endParaRPr sz="2300">
              <a:solidFill>
                <a:srgbClr val="322EE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2EE5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300"/>
              <a:buChar char="●"/>
            </a:pPr>
            <a:r>
              <a:rPr lang="en-US" sz="2300">
                <a:solidFill>
                  <a:srgbClr val="322EE5"/>
                </a:solidFill>
              </a:rPr>
              <a:t>Barrera de tener que transcribir manualmente una receta gracias al escáner con IA.</a:t>
            </a:r>
            <a:endParaRPr sz="2300">
              <a:solidFill>
                <a:srgbClr val="322EE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2EE5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2300"/>
              <a:buChar char="●"/>
            </a:pPr>
            <a:r>
              <a:rPr lang="en-US" sz="2300">
                <a:solidFill>
                  <a:srgbClr val="322EE5"/>
                </a:solidFill>
              </a:rPr>
              <a:t>Experiencia de usuario simple, intuitiva y accesible.</a:t>
            </a:r>
            <a:endParaRPr sz="2300">
              <a:solidFill>
                <a:srgbClr val="322EE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 rot="10220948">
            <a:off x="-1610139" y="-928948"/>
            <a:ext cx="12939288" cy="6624915"/>
          </a:xfrm>
          <a:custGeom>
            <a:rect b="b" l="l" r="r" t="t"/>
            <a:pathLst>
              <a:path extrusionOk="0" h="6630616" w="12950422">
                <a:moveTo>
                  <a:pt x="0" y="0"/>
                </a:moveTo>
                <a:lnTo>
                  <a:pt x="12950423" y="0"/>
                </a:lnTo>
                <a:lnTo>
                  <a:pt x="12950423" y="6630616"/>
                </a:lnTo>
                <a:lnTo>
                  <a:pt x="0" y="6630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-700750" y="9077875"/>
            <a:ext cx="103764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Stack Tecnológico</a:t>
            </a:r>
            <a:endParaRPr sz="4500"/>
          </a:p>
        </p:txBody>
      </p:sp>
      <p:sp>
        <p:nvSpPr>
          <p:cNvPr id="206" name="Google Shape;206;p8"/>
          <p:cNvSpPr txBox="1"/>
          <p:nvPr/>
        </p:nvSpPr>
        <p:spPr>
          <a:xfrm>
            <a:off x="3960233" y="6193418"/>
            <a:ext cx="544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3250" y="1556500"/>
            <a:ext cx="320345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31875" y="4147826"/>
            <a:ext cx="2585850" cy="25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03050" y="6603625"/>
            <a:ext cx="1696498" cy="1719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53463" y="1556496"/>
            <a:ext cx="1279950" cy="127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663875" y="1134035"/>
            <a:ext cx="1071600" cy="1105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572476" y="1150774"/>
            <a:ext cx="1071600" cy="10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5561975" y="4631975"/>
            <a:ext cx="258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3009125" y="1236438"/>
            <a:ext cx="258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5702000" y="8267450"/>
            <a:ext cx="258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API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12949200" y="1274275"/>
            <a:ext cx="5338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8"/>
          <p:cNvCxnSpPr>
            <a:stCxn id="207" idx="3"/>
            <a:endCxn id="208" idx="1"/>
          </p:cNvCxnSpPr>
          <p:nvPr/>
        </p:nvCxnSpPr>
        <p:spPr>
          <a:xfrm>
            <a:off x="8456708" y="2985250"/>
            <a:ext cx="2775300" cy="245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8"/>
          <p:cNvSpPr txBox="1"/>
          <p:nvPr/>
        </p:nvSpPr>
        <p:spPr>
          <a:xfrm>
            <a:off x="11231800" y="7124650"/>
            <a:ext cx="2586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8"/>
          <p:cNvCxnSpPr>
            <a:stCxn id="208" idx="3"/>
            <a:endCxn id="209" idx="1"/>
          </p:cNvCxnSpPr>
          <p:nvPr/>
        </p:nvCxnSpPr>
        <p:spPr>
          <a:xfrm>
            <a:off x="13817725" y="5440751"/>
            <a:ext cx="1985400" cy="20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8"/>
          <p:cNvCxnSpPr>
            <a:stCxn id="208" idx="0"/>
          </p:cNvCxnSpPr>
          <p:nvPr/>
        </p:nvCxnSpPr>
        <p:spPr>
          <a:xfrm flipH="1" rot="10800000">
            <a:off x="12524800" y="2343926"/>
            <a:ext cx="701400" cy="180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8"/>
          <p:cNvSpPr txBox="1"/>
          <p:nvPr/>
        </p:nvSpPr>
        <p:spPr>
          <a:xfrm>
            <a:off x="12500650" y="204625"/>
            <a:ext cx="5822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BB.DD.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8"/>
          <p:cNvCxnSpPr>
            <a:stCxn id="207" idx="1"/>
            <a:endCxn id="214" idx="2"/>
          </p:cNvCxnSpPr>
          <p:nvPr/>
        </p:nvCxnSpPr>
        <p:spPr>
          <a:xfrm rot="10800000">
            <a:off x="4302250" y="1913650"/>
            <a:ext cx="951000" cy="10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Farmacia - Iconos gratis de médico" id="223" name="Google Shape;223;p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701998" y="2740238"/>
            <a:ext cx="1985400" cy="198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8"/>
          <p:cNvCxnSpPr>
            <a:stCxn id="208" idx="3"/>
            <a:endCxn id="223" idx="1"/>
          </p:cNvCxnSpPr>
          <p:nvPr/>
        </p:nvCxnSpPr>
        <p:spPr>
          <a:xfrm flipH="1" rot="10800000">
            <a:off x="13817725" y="3732851"/>
            <a:ext cx="1884300" cy="17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8"/>
          <p:cNvSpPr txBox="1"/>
          <p:nvPr/>
        </p:nvSpPr>
        <p:spPr>
          <a:xfrm>
            <a:off x="15702000" y="4767600"/>
            <a:ext cx="5822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Farmacias</a:t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 rot="-754528">
            <a:off x="7229780" y="5622332"/>
            <a:ext cx="12937019" cy="6623754"/>
          </a:xfrm>
          <a:custGeom>
            <a:rect b="b" l="l" r="r" t="t"/>
            <a:pathLst>
              <a:path extrusionOk="0" h="6630616" w="12950422">
                <a:moveTo>
                  <a:pt x="0" y="0"/>
                </a:moveTo>
                <a:lnTo>
                  <a:pt x="12950422" y="0"/>
                </a:lnTo>
                <a:lnTo>
                  <a:pt x="12950422" y="6630616"/>
                </a:lnTo>
                <a:lnTo>
                  <a:pt x="0" y="6630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 rot="10281772">
            <a:off x="-3574519" y="-761940"/>
            <a:ext cx="12935237" cy="6622841"/>
          </a:xfrm>
          <a:custGeom>
            <a:rect b="b" l="l" r="r" t="t"/>
            <a:pathLst>
              <a:path extrusionOk="0" h="6630616" w="12950422">
                <a:moveTo>
                  <a:pt x="0" y="0"/>
                </a:moveTo>
                <a:lnTo>
                  <a:pt x="12950423" y="0"/>
                </a:lnTo>
                <a:lnTo>
                  <a:pt x="12950423" y="6630616"/>
                </a:lnTo>
                <a:lnTo>
                  <a:pt x="0" y="6630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 rot="10800000">
            <a:off x="14895946" y="-624100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0"/>
                </a:moveTo>
                <a:lnTo>
                  <a:pt x="6136330" y="0"/>
                </a:lnTo>
                <a:lnTo>
                  <a:pt x="6136330" y="1652800"/>
                </a:lnTo>
                <a:lnTo>
                  <a:pt x="0" y="1652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-3503265" y="9354650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6136330" y="1652801"/>
                </a:moveTo>
                <a:lnTo>
                  <a:pt x="0" y="1652801"/>
                </a:lnTo>
                <a:lnTo>
                  <a:pt x="0" y="0"/>
                </a:lnTo>
                <a:lnTo>
                  <a:pt x="6136330" y="0"/>
                </a:lnTo>
                <a:lnTo>
                  <a:pt x="6136330" y="165280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4786100" y="895625"/>
            <a:ext cx="11157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Metodología</a:t>
            </a: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/Plan/Roles</a:t>
            </a:r>
            <a:endParaRPr sz="6800">
              <a:solidFill>
                <a:srgbClr val="322EE5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1591467" y="2254208"/>
            <a:ext cx="839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1591467" y="6004280"/>
            <a:ext cx="468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695725" y="2368463"/>
            <a:ext cx="108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22EE5"/>
                </a:solidFill>
              </a:rPr>
              <a:t>Metodologia: Scrum – Equipo de 3 – Roles Rotativos</a:t>
            </a:r>
            <a:endParaRPr b="1" sz="2300">
              <a:solidFill>
                <a:srgbClr val="322EE5"/>
              </a:solidFill>
            </a:endParaRPr>
          </a:p>
        </p:txBody>
      </p:sp>
      <p:pic>
        <p:nvPicPr>
          <p:cNvPr id="238" name="Google Shape;23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700" y="2781475"/>
            <a:ext cx="15735225" cy="686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40f978bb7_0_34"/>
          <p:cNvSpPr/>
          <p:nvPr/>
        </p:nvSpPr>
        <p:spPr>
          <a:xfrm rot="10220948">
            <a:off x="-1594589" y="-835698"/>
            <a:ext cx="12939288" cy="6624915"/>
          </a:xfrm>
          <a:custGeom>
            <a:rect b="b" l="l" r="r" t="t"/>
            <a:pathLst>
              <a:path extrusionOk="0" h="6630616" w="12950422">
                <a:moveTo>
                  <a:pt x="0" y="0"/>
                </a:moveTo>
                <a:lnTo>
                  <a:pt x="12950423" y="0"/>
                </a:lnTo>
                <a:lnTo>
                  <a:pt x="12950423" y="6630616"/>
                </a:lnTo>
                <a:lnTo>
                  <a:pt x="0" y="6630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40f978bb7_0_34"/>
          <p:cNvSpPr txBox="1"/>
          <p:nvPr/>
        </p:nvSpPr>
        <p:spPr>
          <a:xfrm>
            <a:off x="3331900" y="1787125"/>
            <a:ext cx="123300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Competencias</a:t>
            </a:r>
            <a:endParaRPr sz="6800">
              <a:solidFill>
                <a:srgbClr val="322EE5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245" name="Google Shape;245;g3f40f978bb7_0_34"/>
          <p:cNvSpPr txBox="1"/>
          <p:nvPr/>
        </p:nvSpPr>
        <p:spPr>
          <a:xfrm>
            <a:off x="1087648" y="3429006"/>
            <a:ext cx="69687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lt1"/>
                </a:solidFill>
                <a:highlight>
                  <a:srgbClr val="0000FF"/>
                </a:highlight>
              </a:rPr>
              <a:t>Ciclo de Vida Completo de Software</a:t>
            </a:r>
            <a:endParaRPr sz="3100">
              <a:solidFill>
                <a:schemeClr val="lt1"/>
              </a:solidFill>
              <a:highlight>
                <a:srgbClr val="0000FF"/>
              </a:highlight>
            </a:endParaRPr>
          </a:p>
        </p:txBody>
      </p:sp>
      <p:sp>
        <p:nvSpPr>
          <p:cNvPr id="246" name="Google Shape;246;g3f40f978bb7_0_34"/>
          <p:cNvSpPr txBox="1"/>
          <p:nvPr/>
        </p:nvSpPr>
        <p:spPr>
          <a:xfrm>
            <a:off x="3960233" y="6193418"/>
            <a:ext cx="544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40f978bb7_0_34"/>
          <p:cNvSpPr txBox="1"/>
          <p:nvPr/>
        </p:nvSpPr>
        <p:spPr>
          <a:xfrm>
            <a:off x="9561525" y="3444450"/>
            <a:ext cx="7943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highlight>
                  <a:srgbClr val="0000FF"/>
                </a:highlight>
              </a:rPr>
              <a:t>Ingeniería de Requisitos y Gestión de Proyecto</a:t>
            </a:r>
            <a:endParaRPr b="1" sz="2900">
              <a:solidFill>
                <a:schemeClr val="lt1"/>
              </a:solidFill>
              <a:highlight>
                <a:srgbClr val="0000FF"/>
              </a:highlight>
            </a:endParaRPr>
          </a:p>
        </p:txBody>
      </p:sp>
      <p:sp>
        <p:nvSpPr>
          <p:cNvPr id="248" name="Google Shape;248;g3f40f978bb7_0_34"/>
          <p:cNvSpPr txBox="1"/>
          <p:nvPr/>
        </p:nvSpPr>
        <p:spPr>
          <a:xfrm>
            <a:off x="1823025" y="4631950"/>
            <a:ext cx="6473700" cy="3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 Arquitectura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Buenas prácticas de Seguridad de datos.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IA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plataformas móviles y publicación en tiendas (App Store, Google Play)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40f978bb7_0_34"/>
          <p:cNvSpPr txBox="1"/>
          <p:nvPr/>
        </p:nvSpPr>
        <p:spPr>
          <a:xfrm>
            <a:off x="10296225" y="4574675"/>
            <a:ext cx="6473700" cy="39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Encontrar propuesta de valor y funcionalidades a través de un análisis de mercado, marco legal e iteración.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Modelamiento de Base de datos.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Validar flujos claves antes de escribir código.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y gestión de riesgos.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Foco en calidad, seguridad y accesibilidad.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873a0e201_0_16"/>
          <p:cNvSpPr txBox="1"/>
          <p:nvPr/>
        </p:nvSpPr>
        <p:spPr>
          <a:xfrm>
            <a:off x="1526672" y="1784803"/>
            <a:ext cx="86913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Riesgos</a:t>
            </a:r>
            <a:endParaRPr/>
          </a:p>
        </p:txBody>
      </p:sp>
      <p:sp>
        <p:nvSpPr>
          <p:cNvPr id="255" name="Google Shape;255;g3f873a0e201_0_16"/>
          <p:cNvSpPr/>
          <p:nvPr/>
        </p:nvSpPr>
        <p:spPr>
          <a:xfrm flipH="1">
            <a:off x="15157130" y="9137682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29" y="1652800"/>
                </a:lnTo>
                <a:lnTo>
                  <a:pt x="6136329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873a0e201_0_16"/>
          <p:cNvSpPr/>
          <p:nvPr/>
        </p:nvSpPr>
        <p:spPr>
          <a:xfrm flipH="1" rot="10800000">
            <a:off x="-3068165" y="-341014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30" y="1652800"/>
                </a:lnTo>
                <a:lnTo>
                  <a:pt x="6136330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873a0e201_0_16"/>
          <p:cNvSpPr txBox="1"/>
          <p:nvPr/>
        </p:nvSpPr>
        <p:spPr>
          <a:xfrm>
            <a:off x="1526675" y="3231325"/>
            <a:ext cx="9746100" cy="6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highlight>
                  <a:srgbClr val="0000FF"/>
                </a:highlight>
              </a:rPr>
              <a:t>Falta de participación de farmacias.</a:t>
            </a:r>
            <a:endParaRPr b="1"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900">
                <a:solidFill>
                  <a:srgbClr val="322EE5"/>
                </a:solidFill>
              </a:rPr>
              <a:t>Farmacias no cuentan con sistema al cual integrarse.</a:t>
            </a:r>
            <a:endParaRPr sz="29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highlight>
                  <a:srgbClr val="0000FF"/>
                </a:highlight>
              </a:rPr>
              <a:t>Responsabilidad legal por errores del escáner</a:t>
            </a:r>
            <a:r>
              <a:rPr lang="en-US" sz="2900">
                <a:solidFill>
                  <a:schemeClr val="lt1"/>
                </a:solidFill>
                <a:highlight>
                  <a:srgbClr val="0000FF"/>
                </a:highlight>
              </a:rPr>
              <a:t>.</a:t>
            </a:r>
            <a:endParaRPr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322EE5"/>
                </a:solidFill>
              </a:rPr>
              <a:t>Fricción con políticas de tiendas de apps.</a:t>
            </a:r>
            <a:endParaRPr sz="29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  <a:highlight>
                  <a:srgbClr val="0000FF"/>
                </a:highlight>
              </a:rPr>
              <a:t>Regulatorio (Ley de Fármacos / ISP)</a:t>
            </a:r>
            <a:endParaRPr b="1"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  <a:highlight>
                <a:srgbClr val="0000FF"/>
              </a:highlight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322EE5"/>
                </a:solidFill>
              </a:rPr>
              <a:t>Competencia con otros servicios</a:t>
            </a:r>
            <a:endParaRPr sz="2900">
              <a:solidFill>
                <a:srgbClr val="322EE5"/>
              </a:solidFill>
            </a:endParaRPr>
          </a:p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22EE5"/>
              </a:solidFill>
            </a:endParaRPr>
          </a:p>
        </p:txBody>
      </p:sp>
      <p:sp>
        <p:nvSpPr>
          <p:cNvPr id="258" name="Google Shape;258;g3f873a0e201_0_16"/>
          <p:cNvSpPr txBox="1"/>
          <p:nvPr/>
        </p:nvSpPr>
        <p:spPr>
          <a:xfrm>
            <a:off x="8870441" y="4752285"/>
            <a:ext cx="383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873a0e201_0_16"/>
          <p:cNvSpPr txBox="1"/>
          <p:nvPr/>
        </p:nvSpPr>
        <p:spPr>
          <a:xfrm>
            <a:off x="13426327" y="4752285"/>
            <a:ext cx="383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g3f873a0e201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8006" y="2758290"/>
            <a:ext cx="3946313" cy="358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873a0e201_0_2"/>
          <p:cNvSpPr/>
          <p:nvPr/>
        </p:nvSpPr>
        <p:spPr>
          <a:xfrm flipH="1" rot="-10481326">
            <a:off x="6524123" y="-1203267"/>
            <a:ext cx="12941232" cy="6625911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873a0e201_0_2"/>
          <p:cNvSpPr txBox="1"/>
          <p:nvPr/>
        </p:nvSpPr>
        <p:spPr>
          <a:xfrm>
            <a:off x="1526672" y="1784803"/>
            <a:ext cx="86913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Seguridad</a:t>
            </a:r>
            <a:endParaRPr/>
          </a:p>
        </p:txBody>
      </p:sp>
      <p:sp>
        <p:nvSpPr>
          <p:cNvPr id="267" name="Google Shape;267;g3f873a0e201_0_2"/>
          <p:cNvSpPr/>
          <p:nvPr/>
        </p:nvSpPr>
        <p:spPr>
          <a:xfrm flipH="1">
            <a:off x="15157130" y="9137682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29" y="1652800"/>
                </a:lnTo>
                <a:lnTo>
                  <a:pt x="6136329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873a0e201_0_2"/>
          <p:cNvSpPr/>
          <p:nvPr/>
        </p:nvSpPr>
        <p:spPr>
          <a:xfrm flipH="1" rot="10800000">
            <a:off x="-3068165" y="-341014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30" y="1652800"/>
                </a:lnTo>
                <a:lnTo>
                  <a:pt x="6136330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873a0e201_0_2"/>
          <p:cNvSpPr/>
          <p:nvPr/>
        </p:nvSpPr>
        <p:spPr>
          <a:xfrm>
            <a:off x="9212660" y="1311771"/>
            <a:ext cx="5193054" cy="2527439"/>
          </a:xfrm>
          <a:custGeom>
            <a:rect b="b" l="l" r="r" t="t"/>
            <a:pathLst>
              <a:path extrusionOk="0" h="524365" w="1077397">
                <a:moveTo>
                  <a:pt x="34283" y="0"/>
                </a:moveTo>
                <a:lnTo>
                  <a:pt x="1043114" y="0"/>
                </a:lnTo>
                <a:cubicBezTo>
                  <a:pt x="1062048" y="0"/>
                  <a:pt x="1077397" y="15349"/>
                  <a:pt x="1077397" y="34283"/>
                </a:cubicBezTo>
                <a:lnTo>
                  <a:pt x="1077397" y="490081"/>
                </a:lnTo>
                <a:cubicBezTo>
                  <a:pt x="1077397" y="499174"/>
                  <a:pt x="1073785" y="507894"/>
                  <a:pt x="1067356" y="514323"/>
                </a:cubicBezTo>
                <a:cubicBezTo>
                  <a:pt x="1060926" y="520753"/>
                  <a:pt x="1052206" y="524365"/>
                  <a:pt x="1043114" y="524365"/>
                </a:cubicBezTo>
                <a:lnTo>
                  <a:pt x="34283" y="524365"/>
                </a:lnTo>
                <a:cubicBezTo>
                  <a:pt x="15349" y="524365"/>
                  <a:pt x="0" y="509016"/>
                  <a:pt x="0" y="490081"/>
                </a:cubicBezTo>
                <a:lnTo>
                  <a:pt x="0" y="34283"/>
                </a:lnTo>
                <a:cubicBezTo>
                  <a:pt x="0" y="15349"/>
                  <a:pt x="15349" y="0"/>
                  <a:pt x="34283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441" l="0" r="0" t="-18450"/>
            </a:stretch>
          </a:blipFill>
          <a:ln cap="rnd" cmpd="sng" w="76200">
            <a:solidFill>
              <a:srgbClr val="0E5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873a0e201_0_2"/>
          <p:cNvSpPr txBox="1"/>
          <p:nvPr/>
        </p:nvSpPr>
        <p:spPr>
          <a:xfrm>
            <a:off x="723481" y="4375163"/>
            <a:ext cx="69579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2EE5"/>
                </a:solidFill>
              </a:rPr>
              <a:t>Datos sensibles que maneja la APP: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AutoNum type="arabicPeriod"/>
            </a:pPr>
            <a:r>
              <a:rPr b="1" lang="en-US" sz="1800">
                <a:solidFill>
                  <a:srgbClr val="322EE5"/>
                </a:solidFill>
              </a:rPr>
              <a:t>Recetas medicas (info paciente, doctor, centro m</a:t>
            </a:r>
            <a:r>
              <a:rPr b="1" lang="en-US" sz="1800">
                <a:solidFill>
                  <a:srgbClr val="322EE5"/>
                </a:solidFill>
              </a:rPr>
              <a:t>édico)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AutoNum type="arabicPeriod"/>
            </a:pPr>
            <a:r>
              <a:rPr b="1" lang="en-US" sz="1800">
                <a:solidFill>
                  <a:srgbClr val="322EE5"/>
                </a:solidFill>
              </a:rPr>
              <a:t>Ubicación</a:t>
            </a:r>
            <a:r>
              <a:rPr b="1" lang="en-US" sz="1800">
                <a:solidFill>
                  <a:srgbClr val="322EE5"/>
                </a:solidFill>
              </a:rPr>
              <a:t> del usuario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AutoNum type="arabicPeriod"/>
            </a:pPr>
            <a:r>
              <a:rPr b="1" lang="en-US" sz="1800">
                <a:solidFill>
                  <a:srgbClr val="322EE5"/>
                </a:solidFill>
              </a:rPr>
              <a:t>Datos de las farmacias (stock, precios)</a:t>
            </a:r>
            <a:endParaRPr b="1" sz="18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2EE5"/>
                </a:solidFill>
              </a:rPr>
              <a:t>Se pide el consentimiento para cada uno de estas peticiones para el usuario y una Evaluación de Impacto obligatoria antes de lanzar.</a:t>
            </a:r>
            <a:endParaRPr b="1" sz="1800">
              <a:solidFill>
                <a:srgbClr val="322EE5"/>
              </a:solidFill>
            </a:endParaRPr>
          </a:p>
        </p:txBody>
      </p:sp>
      <p:sp>
        <p:nvSpPr>
          <p:cNvPr id="271" name="Google Shape;271;g3f873a0e201_0_2"/>
          <p:cNvSpPr txBox="1"/>
          <p:nvPr/>
        </p:nvSpPr>
        <p:spPr>
          <a:xfrm>
            <a:off x="1189681" y="6495995"/>
            <a:ext cx="6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873a0e201_0_2"/>
          <p:cNvSpPr txBox="1"/>
          <p:nvPr/>
        </p:nvSpPr>
        <p:spPr>
          <a:xfrm>
            <a:off x="8870441" y="4752285"/>
            <a:ext cx="383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873a0e201_0_2"/>
          <p:cNvSpPr txBox="1"/>
          <p:nvPr/>
        </p:nvSpPr>
        <p:spPr>
          <a:xfrm>
            <a:off x="13426327" y="4752285"/>
            <a:ext cx="383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873a0e201_0_2"/>
          <p:cNvSpPr txBox="1"/>
          <p:nvPr/>
        </p:nvSpPr>
        <p:spPr>
          <a:xfrm>
            <a:off x="723481" y="7409825"/>
            <a:ext cx="69579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2EE5"/>
                </a:solidFill>
              </a:rPr>
              <a:t>Protección</a:t>
            </a:r>
            <a:r>
              <a:rPr b="1" lang="en-US" sz="1800">
                <a:solidFill>
                  <a:srgbClr val="322EE5"/>
                </a:solidFill>
              </a:rPr>
              <a:t> de los datos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Almacenamiento cifrado en la base de datos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La foto de nuestra receta no se almacena en nuestra BBDD.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Derecho ARCO (el usuario puede pedirnos ver, modificar o eliminar su datos, no solo borrar la cuenta.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Notificación de Brechas</a:t>
            </a:r>
            <a:endParaRPr b="1" sz="1800">
              <a:solidFill>
                <a:srgbClr val="322EE5"/>
              </a:solidFill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322EE5"/>
              </a:solidFill>
            </a:endParaRPr>
          </a:p>
        </p:txBody>
      </p:sp>
      <p:sp>
        <p:nvSpPr>
          <p:cNvPr id="275" name="Google Shape;275;g3f873a0e201_0_2"/>
          <p:cNvSpPr txBox="1"/>
          <p:nvPr/>
        </p:nvSpPr>
        <p:spPr>
          <a:xfrm>
            <a:off x="8792756" y="4375175"/>
            <a:ext cx="69579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2EE5"/>
                </a:solidFill>
              </a:rPr>
              <a:t>Control de Acceso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Autenticación</a:t>
            </a:r>
            <a:r>
              <a:rPr b="1" lang="en-US" sz="1800">
                <a:solidFill>
                  <a:srgbClr val="322EE5"/>
                </a:solidFill>
              </a:rPr>
              <a:t> de usuarios mediante social logins o correo/contraseña.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Roles diferenciados: </a:t>
            </a:r>
            <a:r>
              <a:rPr b="1" lang="en-US" sz="1800">
                <a:solidFill>
                  <a:srgbClr val="322EE5"/>
                </a:solidFill>
              </a:rPr>
              <a:t>Usuario Comun</a:t>
            </a:r>
            <a:r>
              <a:rPr b="1" lang="en-US" sz="1800">
                <a:solidFill>
                  <a:srgbClr val="322EE5"/>
                </a:solidFill>
              </a:rPr>
              <a:t> /Farmacia registrada</a:t>
            </a:r>
            <a:endParaRPr b="1" sz="1800">
              <a:solidFill>
                <a:srgbClr val="322EE5"/>
              </a:solidFill>
            </a:endParaRPr>
          </a:p>
        </p:txBody>
      </p:sp>
      <p:sp>
        <p:nvSpPr>
          <p:cNvPr id="276" name="Google Shape;276;g3f873a0e201_0_2"/>
          <p:cNvSpPr txBox="1"/>
          <p:nvPr/>
        </p:nvSpPr>
        <p:spPr>
          <a:xfrm>
            <a:off x="8792756" y="6929675"/>
            <a:ext cx="6957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22EE5"/>
                </a:solidFill>
              </a:rPr>
              <a:t>Usos de servicios externos (IA, geocoding)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Minimizar los datos que se </a:t>
            </a:r>
            <a:r>
              <a:rPr b="1" lang="en-US" sz="1800">
                <a:solidFill>
                  <a:srgbClr val="322EE5"/>
                </a:solidFill>
              </a:rPr>
              <a:t>envían</a:t>
            </a:r>
            <a:r>
              <a:rPr b="1" lang="en-US" sz="1800">
                <a:solidFill>
                  <a:srgbClr val="322EE5"/>
                </a:solidFill>
              </a:rPr>
              <a:t> al servicio de IA</a:t>
            </a:r>
            <a:endParaRPr b="1" sz="1800">
              <a:solidFill>
                <a:srgbClr val="322EE5"/>
              </a:solidFill>
            </a:endParaRPr>
          </a:p>
          <a:p>
            <a:pPr indent="-342900" lvl="0" marL="45720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2EE5"/>
              </a:buClr>
              <a:buSzPts val="1800"/>
              <a:buChar char="●"/>
            </a:pPr>
            <a:r>
              <a:rPr b="1" lang="en-US" sz="1800">
                <a:solidFill>
                  <a:srgbClr val="322EE5"/>
                </a:solidFill>
              </a:rPr>
              <a:t>Manejo seguro de las API keys</a:t>
            </a:r>
            <a:endParaRPr b="1" sz="1800">
              <a:solidFill>
                <a:srgbClr val="322EE5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/>
          <p:nvPr/>
        </p:nvSpPr>
        <p:spPr>
          <a:xfrm>
            <a:off x="1599365" y="1311225"/>
            <a:ext cx="156378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Modelo de Negocios  - B2B Freemium</a:t>
            </a:r>
            <a:endParaRPr sz="1200"/>
          </a:p>
        </p:txBody>
      </p:sp>
      <p:sp>
        <p:nvSpPr>
          <p:cNvPr id="282" name="Google Shape;282;p10"/>
          <p:cNvSpPr txBox="1"/>
          <p:nvPr/>
        </p:nvSpPr>
        <p:spPr>
          <a:xfrm>
            <a:off x="1463025" y="2994050"/>
            <a:ext cx="6294000" cy="3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lt1"/>
                </a:solidFill>
                <a:highlight>
                  <a:srgbClr val="322EE5"/>
                </a:highlight>
              </a:rPr>
              <a:t>Nivel Gratuito:</a:t>
            </a:r>
            <a:r>
              <a:rPr b="1" lang="en-US" sz="2600"/>
              <a:t> </a:t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La farmacia aparece en el mapa y en las búsquedas, puede cargar/actualizar su stock manualmente desde el un panel admin web.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00"/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322EE5"/>
              </a:solidFill>
            </a:endParaRPr>
          </a:p>
        </p:txBody>
      </p:sp>
      <p:sp>
        <p:nvSpPr>
          <p:cNvPr id="283" name="Google Shape;283;p10"/>
          <p:cNvSpPr/>
          <p:nvPr/>
        </p:nvSpPr>
        <p:spPr>
          <a:xfrm flipH="1">
            <a:off x="15004730" y="8985282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29" y="1652800"/>
                </a:lnTo>
                <a:lnTo>
                  <a:pt x="6136329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 flipH="1" rot="10800000">
            <a:off x="-2728264" y="-341577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1"/>
                </a:moveTo>
                <a:lnTo>
                  <a:pt x="6136330" y="1652801"/>
                </a:lnTo>
                <a:lnTo>
                  <a:pt x="6136330" y="0"/>
                </a:lnTo>
                <a:lnTo>
                  <a:pt x="0" y="0"/>
                </a:lnTo>
                <a:lnTo>
                  <a:pt x="0" y="165280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9442725" y="2994050"/>
            <a:ext cx="78945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highlight>
                  <a:srgbClr val="0000FF"/>
                </a:highlight>
              </a:rPr>
              <a:t>Nivel Pagado (SaaS con suscripción Mensual):</a:t>
            </a:r>
            <a:r>
              <a:rPr b="1" lang="en-US" sz="2600">
                <a:solidFill>
                  <a:schemeClr val="dk1"/>
                </a:solidFill>
              </a:rPr>
              <a:t> 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Analítica de demanda, integración automática vía API con su ERP, posición destacada dentro de su propia comuna, multiusuario para varios locales de un mismo dueño. 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2EE5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5" title="ho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477" y="491213"/>
            <a:ext cx="3951425" cy="855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4850" y="491200"/>
            <a:ext cx="3951425" cy="855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0125" y="491226"/>
            <a:ext cx="3951425" cy="8554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67487" y="491213"/>
            <a:ext cx="3951425" cy="855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yuda con receta médica por favor :C : r/chile" id="294" name="Google Shape;294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60290" y="1938175"/>
            <a:ext cx="3171099" cy="422040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5"/>
          <p:cNvSpPr txBox="1"/>
          <p:nvPr/>
        </p:nvSpPr>
        <p:spPr>
          <a:xfrm>
            <a:off x="7478050" y="9375500"/>
            <a:ext cx="1071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b="1" sz="3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22EE5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f9ca986aac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850" y="596663"/>
            <a:ext cx="4200500" cy="9093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f9ca986aac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8275" y="596663"/>
            <a:ext cx="4200500" cy="909366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f9ca986aac_0_38"/>
          <p:cNvSpPr txBox="1"/>
          <p:nvPr/>
        </p:nvSpPr>
        <p:spPr>
          <a:xfrm>
            <a:off x="-2563500" y="3843575"/>
            <a:ext cx="667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Tracker de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Tratamiento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9ca986aac_0_38"/>
          <p:cNvSpPr txBox="1"/>
          <p:nvPr/>
        </p:nvSpPr>
        <p:spPr>
          <a:xfrm>
            <a:off x="14193400" y="3843575"/>
            <a:ext cx="10714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Historial de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Recetas Escaneadas</a:t>
            </a:r>
            <a:endParaRPr b="1" sz="3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873a0e201_0_30"/>
          <p:cNvSpPr/>
          <p:nvPr/>
        </p:nvSpPr>
        <p:spPr>
          <a:xfrm flipH="1" rot="-10481326">
            <a:off x="6151198" y="-814767"/>
            <a:ext cx="12941232" cy="6625911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873a0e201_0_30"/>
          <p:cNvSpPr txBox="1"/>
          <p:nvPr/>
        </p:nvSpPr>
        <p:spPr>
          <a:xfrm>
            <a:off x="1526672" y="1784803"/>
            <a:ext cx="86913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Conclusiones</a:t>
            </a:r>
            <a:endParaRPr/>
          </a:p>
        </p:txBody>
      </p:sp>
      <p:sp>
        <p:nvSpPr>
          <p:cNvPr id="310" name="Google Shape;310;g3f873a0e201_0_30"/>
          <p:cNvSpPr/>
          <p:nvPr/>
        </p:nvSpPr>
        <p:spPr>
          <a:xfrm flipH="1">
            <a:off x="15157130" y="9137682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29" y="1652800"/>
                </a:lnTo>
                <a:lnTo>
                  <a:pt x="6136329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873a0e201_0_30"/>
          <p:cNvSpPr/>
          <p:nvPr/>
        </p:nvSpPr>
        <p:spPr>
          <a:xfrm flipH="1" rot="10800000">
            <a:off x="-3068165" y="-341014"/>
            <a:ext cx="6136330" cy="1652800"/>
          </a:xfrm>
          <a:custGeom>
            <a:rect b="b" l="l" r="r" t="t"/>
            <a:pathLst>
              <a:path extrusionOk="0" h="1652800" w="6136330">
                <a:moveTo>
                  <a:pt x="0" y="1652800"/>
                </a:moveTo>
                <a:lnTo>
                  <a:pt x="6136330" y="1652800"/>
                </a:lnTo>
                <a:lnTo>
                  <a:pt x="6136330" y="0"/>
                </a:lnTo>
                <a:lnTo>
                  <a:pt x="0" y="0"/>
                </a:lnTo>
                <a:lnTo>
                  <a:pt x="0" y="165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873a0e201_0_30"/>
          <p:cNvSpPr/>
          <p:nvPr/>
        </p:nvSpPr>
        <p:spPr>
          <a:xfrm>
            <a:off x="14450785" y="6829221"/>
            <a:ext cx="5193054" cy="2527439"/>
          </a:xfrm>
          <a:custGeom>
            <a:rect b="b" l="l" r="r" t="t"/>
            <a:pathLst>
              <a:path extrusionOk="0" h="524365" w="1077397">
                <a:moveTo>
                  <a:pt x="34283" y="0"/>
                </a:moveTo>
                <a:lnTo>
                  <a:pt x="1043114" y="0"/>
                </a:lnTo>
                <a:cubicBezTo>
                  <a:pt x="1062048" y="0"/>
                  <a:pt x="1077397" y="15349"/>
                  <a:pt x="1077397" y="34283"/>
                </a:cubicBezTo>
                <a:lnTo>
                  <a:pt x="1077397" y="490081"/>
                </a:lnTo>
                <a:cubicBezTo>
                  <a:pt x="1077397" y="499174"/>
                  <a:pt x="1073785" y="507894"/>
                  <a:pt x="1067356" y="514323"/>
                </a:cubicBezTo>
                <a:cubicBezTo>
                  <a:pt x="1060926" y="520753"/>
                  <a:pt x="1052206" y="524365"/>
                  <a:pt x="1043114" y="524365"/>
                </a:cubicBezTo>
                <a:lnTo>
                  <a:pt x="34283" y="524365"/>
                </a:lnTo>
                <a:cubicBezTo>
                  <a:pt x="15349" y="524365"/>
                  <a:pt x="0" y="509016"/>
                  <a:pt x="0" y="490081"/>
                </a:cubicBezTo>
                <a:lnTo>
                  <a:pt x="0" y="34283"/>
                </a:lnTo>
                <a:cubicBezTo>
                  <a:pt x="0" y="15349"/>
                  <a:pt x="15349" y="0"/>
                  <a:pt x="34283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441" l="0" r="0" t="-18450"/>
            </a:stretch>
          </a:blipFill>
          <a:ln cap="rnd" cmpd="sng" w="76200">
            <a:solidFill>
              <a:srgbClr val="0E50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873a0e201_0_30"/>
          <p:cNvSpPr txBox="1"/>
          <p:nvPr/>
        </p:nvSpPr>
        <p:spPr>
          <a:xfrm>
            <a:off x="1189675" y="3475300"/>
            <a:ext cx="6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873a0e201_0_30"/>
          <p:cNvSpPr txBox="1"/>
          <p:nvPr/>
        </p:nvSpPr>
        <p:spPr>
          <a:xfrm>
            <a:off x="1189681" y="6495995"/>
            <a:ext cx="6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f873a0e201_0_30"/>
          <p:cNvSpPr txBox="1"/>
          <p:nvPr/>
        </p:nvSpPr>
        <p:spPr>
          <a:xfrm>
            <a:off x="8870441" y="4752285"/>
            <a:ext cx="383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873a0e201_0_30"/>
          <p:cNvSpPr txBox="1"/>
          <p:nvPr/>
        </p:nvSpPr>
        <p:spPr>
          <a:xfrm>
            <a:off x="13426327" y="4752285"/>
            <a:ext cx="383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"/>
          <p:cNvSpPr/>
          <p:nvPr/>
        </p:nvSpPr>
        <p:spPr>
          <a:xfrm flipH="1" rot="-10122369">
            <a:off x="8784825" y="-714725"/>
            <a:ext cx="12950422" cy="6630616"/>
          </a:xfrm>
          <a:custGeom>
            <a:rect b="b" l="l" r="r" t="t"/>
            <a:pathLst>
              <a:path extrusionOk="0" h="6630616" w="12950422">
                <a:moveTo>
                  <a:pt x="12950423" y="0"/>
                </a:moveTo>
                <a:lnTo>
                  <a:pt x="0" y="0"/>
                </a:lnTo>
                <a:lnTo>
                  <a:pt x="0" y="6630616"/>
                </a:lnTo>
                <a:lnTo>
                  <a:pt x="12950423" y="6630616"/>
                </a:lnTo>
                <a:lnTo>
                  <a:pt x="1295042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-762271" y="2927133"/>
            <a:ext cx="7618556" cy="7618556"/>
          </a:xfrm>
          <a:custGeom>
            <a:rect b="b" l="l" r="r" t="t"/>
            <a:pathLst>
              <a:path extrusionOk="0" h="7618556" w="7618556">
                <a:moveTo>
                  <a:pt x="0" y="0"/>
                </a:moveTo>
                <a:lnTo>
                  <a:pt x="7618556" y="0"/>
                </a:lnTo>
                <a:lnTo>
                  <a:pt x="7618556" y="7618556"/>
                </a:lnTo>
                <a:lnTo>
                  <a:pt x="0" y="7618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5782329" y="3050958"/>
            <a:ext cx="7847400" cy="21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06">
                <a:solidFill>
                  <a:srgbClr val="322EE5"/>
                </a:solidFill>
                <a:latin typeface="Paytone One"/>
                <a:ea typeface="Paytone One"/>
                <a:cs typeface="Paytone One"/>
                <a:sym typeface="Paytone One"/>
              </a:rPr>
              <a:t>Gracias</a:t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 flipH="1">
            <a:off x="-930075" y="4988953"/>
            <a:ext cx="11392410" cy="6361727"/>
          </a:xfrm>
          <a:custGeom>
            <a:rect b="b" l="l" r="r" t="t"/>
            <a:pathLst>
              <a:path extrusionOk="0" h="6361727" w="11392410">
                <a:moveTo>
                  <a:pt x="11392410" y="0"/>
                </a:moveTo>
                <a:lnTo>
                  <a:pt x="0" y="0"/>
                </a:lnTo>
                <a:lnTo>
                  <a:pt x="0" y="6361726"/>
                </a:lnTo>
                <a:lnTo>
                  <a:pt x="11392410" y="6361726"/>
                </a:lnTo>
                <a:lnTo>
                  <a:pt x="1139241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3675" r="0" t="-422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 flipH="1" rot="10800000">
            <a:off x="-167388" y="-331708"/>
            <a:ext cx="5050768" cy="1360408"/>
          </a:xfrm>
          <a:custGeom>
            <a:rect b="b" l="l" r="r" t="t"/>
            <a:pathLst>
              <a:path extrusionOk="0" h="1360408" w="5050768">
                <a:moveTo>
                  <a:pt x="0" y="1360408"/>
                </a:moveTo>
                <a:lnTo>
                  <a:pt x="5050769" y="1360408"/>
                </a:lnTo>
                <a:lnTo>
                  <a:pt x="5050769" y="0"/>
                </a:lnTo>
                <a:lnTo>
                  <a:pt x="0" y="0"/>
                </a:lnTo>
                <a:lnTo>
                  <a:pt x="0" y="136040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3144816" y="1258447"/>
            <a:ext cx="1332375" cy="1342136"/>
          </a:xfrm>
          <a:custGeom>
            <a:rect b="b" l="l" r="r" t="t"/>
            <a:pathLst>
              <a:path extrusionOk="0" h="1342136" w="1332375">
                <a:moveTo>
                  <a:pt x="0" y="0"/>
                </a:moveTo>
                <a:lnTo>
                  <a:pt x="1332375" y="0"/>
                </a:lnTo>
                <a:lnTo>
                  <a:pt x="1332375" y="1342136"/>
                </a:lnTo>
                <a:lnTo>
                  <a:pt x="0" y="1342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2361278" y="2981258"/>
            <a:ext cx="5694443" cy="6621446"/>
          </a:xfrm>
          <a:custGeom>
            <a:rect b="b" l="l" r="r" t="t"/>
            <a:pathLst>
              <a:path extrusionOk="0" h="6621446" w="5694443">
                <a:moveTo>
                  <a:pt x="0" y="0"/>
                </a:moveTo>
                <a:lnTo>
                  <a:pt x="5694443" y="0"/>
                </a:lnTo>
                <a:lnTo>
                  <a:pt x="5694443" y="6621446"/>
                </a:lnTo>
                <a:lnTo>
                  <a:pt x="0" y="66214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